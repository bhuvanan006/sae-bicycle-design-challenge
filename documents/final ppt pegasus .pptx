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F4F173-AF0B-4CB5-9B44-5EBBE6BBE786}">
          <p14:sldIdLst>
            <p14:sldId id="256"/>
            <p14:sldId id="257"/>
            <p14:sldId id="258"/>
            <p14:sldId id="264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CC33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4EB6-7A45-4FBE-8383-53BFBA5EC1DC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09249-144C-49B6-954D-F0752ECB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4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9249-144C-49B6-954D-F0752ECB70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05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9249-144C-49B6-954D-F0752ECB70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34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9249-144C-49B6-954D-F0752ECB70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8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microsoft.com/office/2007/relationships/hdphoto" Target="../media/hdphoto4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microsoft.com/office/2007/relationships/hdphoto" Target="../media/hdphoto3.wdp"/><Relationship Id="rId4" Type="http://schemas.openxmlformats.org/officeDocument/2006/relationships/image" Target="../media/image2.jpg"/><Relationship Id="rId9" Type="http://schemas.openxmlformats.org/officeDocument/2006/relationships/image" Target="../media/image6.png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2.jp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6531" y="1346823"/>
            <a:ext cx="6400800" cy="4193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 of Bicycle Design Challenge -25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6" y="149029"/>
            <a:ext cx="2601563" cy="7418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535059-D03D-49EC-B6DA-BBD5F895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331" y="114593"/>
            <a:ext cx="982687" cy="982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482F1-932E-0DB5-56BC-1D286B998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508" y="2280621"/>
            <a:ext cx="2382983" cy="229675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134CB5-1FA5-F8A2-A80C-3877061C0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59358"/>
              </p:ext>
            </p:extLst>
          </p:nvPr>
        </p:nvGraphicFramePr>
        <p:xfrm>
          <a:off x="1116065" y="4735555"/>
          <a:ext cx="7202816" cy="1479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408">
                  <a:extLst>
                    <a:ext uri="{9D8B030D-6E8A-4147-A177-3AD203B41FA5}">
                      <a16:colId xmlns:a16="http://schemas.microsoft.com/office/drawing/2014/main" val="1336251520"/>
                    </a:ext>
                  </a:extLst>
                </a:gridCol>
                <a:gridCol w="3601408">
                  <a:extLst>
                    <a:ext uri="{9D8B030D-6E8A-4147-A177-3AD203B41FA5}">
                      <a16:colId xmlns:a16="http://schemas.microsoft.com/office/drawing/2014/main" val="1012581596"/>
                    </a:ext>
                  </a:extLst>
                </a:gridCol>
              </a:tblGrid>
              <a:tr h="3436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NAME </a:t>
                      </a:r>
                      <a:endParaRPr lang="en-IN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PEGASUS</a:t>
                      </a:r>
                      <a:endParaRPr lang="en-IN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527796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ID</a:t>
                      </a:r>
                      <a:endParaRPr lang="en-IN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BDC205020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17484"/>
                  </a:ext>
                </a:extLst>
              </a:tr>
              <a:tr h="73870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 NAME</a:t>
                      </a:r>
                      <a:endParaRPr lang="en-IN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INSTITUTE OF       TECHNOLOGY-SALEM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630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883" y="217688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4" y="183197"/>
            <a:ext cx="1923998" cy="54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A81330-8AFD-407D-AD4D-20DF1BDFD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288" y="158554"/>
            <a:ext cx="1038798" cy="1038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714E05-6FFE-55C6-0352-4028FFCBE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48" b="91812" l="9886" r="89861">
                        <a14:foregroundMark x1="42780" y1="7766" x2="39163" y2="9664"/>
                        <a14:foregroundMark x1="45361" y1="6411" x2="43960" y2="7146"/>
                        <a14:foregroundMark x1="53485" y1="2148" x2="48467" y2="4781"/>
                        <a14:foregroundMark x1="44479" y1="6053" x2="45212" y2="6226"/>
                        <a14:foregroundMark x1="28162" y1="16378" x2="30925" y2="14497"/>
                        <a14:foregroundMark x1="26484" y1="17521" x2="27712" y2="16685"/>
                        <a14:foregroundMark x1="22053" y1="20537" x2="24847" y2="18635"/>
                        <a14:foregroundMark x1="30925" y1="14497" x2="38530" y2="12081"/>
                        <a14:foregroundMark x1="38530" y1="12081" x2="41952" y2="9799"/>
                        <a14:foregroundMark x1="35868" y1="14497" x2="37389" y2="23221"/>
                        <a14:foregroundMark x1="37389" y1="23221" x2="33967" y2="35034"/>
                        <a14:foregroundMark x1="67427" y1="81477" x2="74905" y2="91544"/>
                        <a14:foregroundMark x1="74905" y1="91544" x2="84030" y2="91812"/>
                        <a14:foregroundMark x1="84030" y1="91812" x2="86565" y2="86309"/>
                        <a14:foregroundMark x1="54499" y1="60134" x2="52978" y2="60671"/>
                        <a14:foregroundMark x1="61470" y1="36644" x2="73131" y2="46443"/>
                        <a14:foregroundMark x1="15336" y1="48859" x2="25095" y2="68591"/>
                        <a14:foregroundMark x1="25095" y1="68591" x2="31686" y2="72349"/>
                        <a14:foregroundMark x1="31686" y1="72349" x2="40177" y2="64027"/>
                        <a14:foregroundMark x1="40177" y1="64027" x2="39163" y2="55705"/>
                        <a14:foregroundMark x1="39163" y1="55705" x2="27757" y2="37047"/>
                        <a14:foregroundMark x1="27757" y1="37047" x2="20025" y2="34228"/>
                        <a14:foregroundMark x1="20025" y1="34228" x2="10773" y2="37987"/>
                        <a14:foregroundMark x1="10773" y1="37987" x2="18758" y2="54765"/>
                        <a14:foregroundMark x1="18758" y1="54765" x2="20406" y2="56510"/>
                        <a14:backgroundMark x1="24335" y1="16376" x2="27503" y2="15570"/>
                        <a14:backgroundMark x1="43346" y1="4698" x2="44740" y2="4430"/>
                        <a14:backgroundMark x1="25729" y1="16779" x2="26869" y2="16242"/>
                        <a14:backgroundMark x1="43599" y1="6040" x2="44740" y2="5503"/>
                        <a14:backgroundMark x1="47655" y1="3758" x2="45120" y2="4832"/>
                        <a14:backgroundMark x1="27757" y1="15705" x2="27123" y2="15705"/>
                        <a14:backgroundMark x1="26616" y1="16376" x2="27250" y2="16107"/>
                        <a14:backgroundMark x1="43473" y1="5906" x2="44994" y2="4966"/>
                        <a14:backgroundMark x1="46261" y1="4966" x2="44740" y2="56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307" y="1286305"/>
            <a:ext cx="1923998" cy="1816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6C67DE-3084-9AF0-1D1F-D94E01D14B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9922" y1="24696" x2="29922" y2="27395"/>
                        <a14:foregroundMark x1="30950" y1="29825" x2="30994" y2="31984"/>
                        <a14:foregroundMark x1="30897" y1="27260" x2="30950" y2="29825"/>
                        <a14:backgroundMark x1="26803" y1="26451" x2="27583" y2="35358"/>
                        <a14:backgroundMark x1="27583" y1="57625" x2="29532" y2="63563"/>
                        <a14:backgroundMark x1="28944" y1="33063" x2="29142" y2="34413"/>
                        <a14:backgroundMark x1="28111" y1="27395" x2="28798" y2="32071"/>
                        <a14:backgroundMark x1="26803" y1="18489" x2="27850" y2="25617"/>
                        <a14:backgroundMark x1="46784" y1="23482" x2="46784" y2="23482"/>
                        <a14:backgroundMark x1="28998" y1="32063" x2="29142" y2="33333"/>
                        <a14:backgroundMark x1="28470" y1="27395" x2="28906" y2="31248"/>
                        <a14:backgroundMark x1="26413" y1="40756" x2="26023" y2="24022"/>
                        <a14:backgroundMark x1="28363" y1="63563" x2="28752" y2="56545"/>
                        <a14:backgroundMark x1="28752" y1="56545" x2="28752" y2="68016"/>
                        <a14:backgroundMark x1="29023" y1="27395" x2="28947" y2="33333"/>
                        <a14:backgroundMark x1="29045" y1="57895" x2="29727" y2="64238"/>
                        <a14:backgroundMark x1="28363" y1="33603" x2="28890" y2="30465"/>
                        <a14:backgroundMark x1="29337" y1="32050" x2="29337" y2="35223"/>
                        <a14:backgroundMark x1="29622" y1="32038" x2="29727" y2="34683"/>
                        <a14:backgroundMark x1="29337" y1="24831" x2="29435" y2="27318"/>
                        <a14:backgroundMark x1="28655" y1="24561" x2="29064" y2="27333"/>
                        <a14:backgroundMark x1="29922" y1="29825" x2="29922" y2="29825"/>
                        <a14:backgroundMark x1="29922" y1="29825" x2="29922" y2="29825"/>
                        <a14:backgroundMark x1="29922" y1="29825" x2="29922" y2="29825"/>
                        <a14:backgroundMark x1="28947" y1="59784" x2="28947" y2="59784"/>
                        <a14:backgroundMark x1="28947" y1="62888" x2="28947" y2="62888"/>
                        <a14:backgroundMark x1="29630" y1="61538" x2="29630" y2="61538"/>
                        <a14:backgroundMark x1="29630" y1="61538" x2="29630" y2="61538"/>
                        <a14:backgroundMark x1="29630" y1="61538" x2="29630" y2="615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4" y="2769240"/>
            <a:ext cx="2708784" cy="2101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0B65E7-2A8D-B123-C9E8-EBBE70D11F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067" b="90000" l="9966" r="89863">
                        <a14:foregroundMark x1="32194" y1="9732" x2="33677" y2="10933"/>
                        <a14:foregroundMark x1="65675" y1="10367" x2="65636" y2="11333"/>
                        <a14:foregroundMark x1="64948" y1="10533" x2="65979" y2="10533"/>
                        <a14:backgroundMark x1="26804" y1="8667" x2="33162" y2="8533"/>
                        <a14:backgroundMark x1="29381" y1="8800" x2="32302" y2="9067"/>
                        <a14:backgroundMark x1="66632" y1="8481" x2="59794" y2="6933"/>
                        <a14:backgroundMark x1="68041" y1="8800" x2="67501" y2="8678"/>
                        <a14:backgroundMark x1="33677" y1="4133" x2="32474" y2="6400"/>
                        <a14:backgroundMark x1="32474" y1="9867" x2="29897" y2="9733"/>
                        <a14:backgroundMark x1="69072" y1="8933" x2="69072" y2="8933"/>
                        <a14:backgroundMark x1="66261" y1="8933" x2="64261" y2="8933"/>
                        <a14:backgroundMark x1="69072" y1="8933" x2="67292" y2="8933"/>
                        <a14:backgroundMark x1="63058" y1="6933" x2="65808" y2="9600"/>
                        <a14:backgroundMark x1="61340" y1="8133" x2="65571" y2="97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92" y="4537381"/>
            <a:ext cx="2017213" cy="23206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EA691C-E027-CE75-E6D9-F90910A5E822}"/>
              </a:ext>
            </a:extLst>
          </p:cNvPr>
          <p:cNvSpPr txBox="1"/>
          <p:nvPr/>
        </p:nvSpPr>
        <p:spPr>
          <a:xfrm>
            <a:off x="3999501" y="1382925"/>
            <a:ext cx="4435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design and build a Z-frame bicycle that is compact, reliable, and practical for everyday riders in today’s fast-paced lifestyle.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4FB2C378-7065-DBB7-609C-0E8C1CA9105C}"/>
              </a:ext>
            </a:extLst>
          </p:cNvPr>
          <p:cNvSpPr/>
          <p:nvPr/>
        </p:nvSpPr>
        <p:spPr>
          <a:xfrm>
            <a:off x="2417902" y="5530020"/>
            <a:ext cx="4991686" cy="818501"/>
          </a:xfrm>
          <a:prstGeom prst="trapezoid">
            <a:avLst>
              <a:gd name="adj" fmla="val 68445"/>
            </a:avLst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015A4C8E-A4EE-036D-47AC-9E8DE63399C5}"/>
              </a:ext>
            </a:extLst>
          </p:cNvPr>
          <p:cNvSpPr/>
          <p:nvPr/>
        </p:nvSpPr>
        <p:spPr>
          <a:xfrm>
            <a:off x="3198667" y="4220734"/>
            <a:ext cx="3241965" cy="765830"/>
          </a:xfrm>
          <a:prstGeom prst="trapezoid">
            <a:avLst>
              <a:gd name="adj" fmla="val 62989"/>
            </a:avLst>
          </a:prstGeom>
          <a:solidFill>
            <a:srgbClr val="33CC33"/>
          </a:solidFill>
          <a:ln>
            <a:solidFill>
              <a:srgbClr val="33CC33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6F9F381E-590A-1BD7-FD86-F2100F6EA92C}"/>
              </a:ext>
            </a:extLst>
          </p:cNvPr>
          <p:cNvSpPr/>
          <p:nvPr/>
        </p:nvSpPr>
        <p:spPr>
          <a:xfrm>
            <a:off x="3999501" y="2511503"/>
            <a:ext cx="1625600" cy="1183009"/>
          </a:xfrm>
          <a:prstGeom prst="trapezoid">
            <a:avLst>
              <a:gd name="adj" fmla="val 72798"/>
            </a:avLst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C5283816-449E-5E57-8716-074552C720DF}"/>
              </a:ext>
            </a:extLst>
          </p:cNvPr>
          <p:cNvSpPr/>
          <p:nvPr/>
        </p:nvSpPr>
        <p:spPr>
          <a:xfrm>
            <a:off x="3688404" y="3712774"/>
            <a:ext cx="1936697" cy="496773"/>
          </a:xfrm>
          <a:prstGeom prst="parallelogram">
            <a:avLst>
              <a:gd name="adj" fmla="val 217945"/>
            </a:avLst>
          </a:prstGeom>
          <a:solidFill>
            <a:srgbClr val="006600"/>
          </a:solidFill>
          <a:ln>
            <a:solidFill>
              <a:srgbClr val="00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7B7B879C-82D9-874A-B5B1-A1F9D93EFBD2}"/>
              </a:ext>
            </a:extLst>
          </p:cNvPr>
          <p:cNvSpPr/>
          <p:nvPr/>
        </p:nvSpPr>
        <p:spPr>
          <a:xfrm>
            <a:off x="2969818" y="5008182"/>
            <a:ext cx="3470814" cy="498066"/>
          </a:xfrm>
          <a:prstGeom prst="parallelogram">
            <a:avLst>
              <a:gd name="adj" fmla="val 406098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9C018B-7E24-CB36-6AF8-AAA52B924B5E}"/>
              </a:ext>
            </a:extLst>
          </p:cNvPr>
          <p:cNvCxnSpPr>
            <a:cxnSpLocks/>
          </p:cNvCxnSpPr>
          <p:nvPr/>
        </p:nvCxnSpPr>
        <p:spPr>
          <a:xfrm>
            <a:off x="3444510" y="5697690"/>
            <a:ext cx="0" cy="563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5C2674D-07FE-A5A1-BB23-9C027950EF4F}"/>
              </a:ext>
            </a:extLst>
          </p:cNvPr>
          <p:cNvSpPr txBox="1"/>
          <p:nvPr/>
        </p:nvSpPr>
        <p:spPr>
          <a:xfrm>
            <a:off x="2845080" y="5744365"/>
            <a:ext cx="771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03</a:t>
            </a:r>
            <a:endParaRPr lang="en-IN" sz="2000" b="1" dirty="0">
              <a:solidFill>
                <a:schemeClr val="bg2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E321646-BA2E-26F1-E81C-F40CEEA936D0}"/>
              </a:ext>
            </a:extLst>
          </p:cNvPr>
          <p:cNvCxnSpPr>
            <a:cxnSpLocks/>
          </p:cNvCxnSpPr>
          <p:nvPr/>
        </p:nvCxnSpPr>
        <p:spPr>
          <a:xfrm>
            <a:off x="4052879" y="4386024"/>
            <a:ext cx="0" cy="563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8DCAE0-9A80-EC07-2C7D-0C26875F8D57}"/>
              </a:ext>
            </a:extLst>
          </p:cNvPr>
          <p:cNvSpPr txBox="1"/>
          <p:nvPr/>
        </p:nvSpPr>
        <p:spPr>
          <a:xfrm>
            <a:off x="3429505" y="4492298"/>
            <a:ext cx="78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02</a:t>
            </a:r>
            <a:endParaRPr lang="en-IN" sz="2000" b="1" dirty="0">
              <a:solidFill>
                <a:schemeClr val="bg2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55BF7D7-FBD8-2707-43CF-B00849208DA6}"/>
              </a:ext>
            </a:extLst>
          </p:cNvPr>
          <p:cNvCxnSpPr>
            <a:cxnSpLocks/>
          </p:cNvCxnSpPr>
          <p:nvPr/>
        </p:nvCxnSpPr>
        <p:spPr>
          <a:xfrm flipH="1">
            <a:off x="4572000" y="3023951"/>
            <a:ext cx="495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8D57D63-D707-AF5B-8C6D-5D16F5A3A0DA}"/>
              </a:ext>
            </a:extLst>
          </p:cNvPr>
          <p:cNvSpPr txBox="1"/>
          <p:nvPr/>
        </p:nvSpPr>
        <p:spPr>
          <a:xfrm>
            <a:off x="4559803" y="2623841"/>
            <a:ext cx="707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01</a:t>
            </a:r>
            <a:endParaRPr lang="en-IN" sz="2000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F35C20-B66D-00D3-9E22-4ACFBC9F4794}"/>
              </a:ext>
            </a:extLst>
          </p:cNvPr>
          <p:cNvSpPr txBox="1"/>
          <p:nvPr/>
        </p:nvSpPr>
        <p:spPr>
          <a:xfrm>
            <a:off x="4052879" y="3157857"/>
            <a:ext cx="154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Z – FRAME STRUCTURE</a:t>
            </a:r>
            <a:endParaRPr lang="en-IN" sz="12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3FD263-E47A-838B-ECA8-8BF810B45DC3}"/>
              </a:ext>
            </a:extLst>
          </p:cNvPr>
          <p:cNvSpPr txBox="1"/>
          <p:nvPr/>
        </p:nvSpPr>
        <p:spPr>
          <a:xfrm>
            <a:off x="3566214" y="5717434"/>
            <a:ext cx="4511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SEAT MOUNTED WITH SPRING SUSPENSION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9C38C9-1753-04F4-2728-A4202FF379D7}"/>
              </a:ext>
            </a:extLst>
          </p:cNvPr>
          <p:cNvSpPr txBox="1"/>
          <p:nvPr/>
        </p:nvSpPr>
        <p:spPr>
          <a:xfrm>
            <a:off x="4055564" y="4492154"/>
            <a:ext cx="223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/>
                </a:solidFill>
                <a:latin typeface="Arial Black" panose="020B0A04020102020204" pitchFamily="34" charset="0"/>
              </a:rPr>
              <a:t>PEDAL TO STAND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99EAE999-A96A-1277-5C2A-5B6EDF51FDEC}"/>
              </a:ext>
            </a:extLst>
          </p:cNvPr>
          <p:cNvSpPr/>
          <p:nvPr/>
        </p:nvSpPr>
        <p:spPr>
          <a:xfrm>
            <a:off x="5840186" y="2675343"/>
            <a:ext cx="1006499" cy="944179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80DBEF73-F27B-6180-0538-731E04F318C8}"/>
              </a:ext>
            </a:extLst>
          </p:cNvPr>
          <p:cNvSpPr/>
          <p:nvPr/>
        </p:nvSpPr>
        <p:spPr>
          <a:xfrm>
            <a:off x="6846685" y="3999444"/>
            <a:ext cx="1049059" cy="89296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28606ABA-68DE-4580-6844-3A92AD58AAD5}"/>
              </a:ext>
            </a:extLst>
          </p:cNvPr>
          <p:cNvSpPr/>
          <p:nvPr/>
        </p:nvSpPr>
        <p:spPr>
          <a:xfrm>
            <a:off x="7839051" y="5288439"/>
            <a:ext cx="1049059" cy="892964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B4C8C77-A1BB-D02F-8056-BA13D82C76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79" b="94096" l="7701" r="97289">
                        <a14:foregroundMark x1="7701" y1="36162" x2="9978" y2="27860"/>
                        <a14:foregroundMark x1="45336" y1="94280" x2="43167" y2="87269"/>
                        <a14:foregroundMark x1="91540" y1="77122" x2="97289" y2="79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5860" y="2805770"/>
            <a:ext cx="804967" cy="4732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718A6EF-1113-F999-528A-3455887EEE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7119" b="86435" l="10000" r="90000">
                        <a14:backgroundMark x1="12234" y1="20019" x2="53105" y2="17691"/>
                        <a14:backgroundMark x1="53105" y1="17691" x2="93513" y2="23836"/>
                        <a14:backgroundMark x1="93513" y1="23836" x2="85542" y2="62663"/>
                        <a14:backgroundMark x1="85542" y1="62663" x2="54310" y2="86034"/>
                        <a14:backgroundMark x1="54310" y1="86034" x2="11770" y2="80168"/>
                        <a14:backgroundMark x1="11770" y1="80168" x2="5097" y2="34078"/>
                        <a14:backgroundMark x1="5097" y1="34078" x2="42261" y2="20391"/>
                        <a14:backgroundMark x1="42261" y1="20391" x2="6673" y2="6518"/>
                        <a14:backgroundMark x1="6673" y1="6518" x2="45227" y2="6611"/>
                        <a14:backgroundMark x1="45227" y1="6611" x2="85079" y2="6052"/>
                        <a14:backgroundMark x1="85079" y1="6052" x2="32159" y2="10056"/>
                        <a14:backgroundMark x1="32159" y1="10056" x2="1390" y2="37430"/>
                        <a14:backgroundMark x1="1390" y1="37430" x2="4171" y2="82216"/>
                        <a14:backgroundMark x1="4171" y1="82216" x2="41149" y2="92737"/>
                        <a14:backgroundMark x1="41149" y1="92737" x2="92122" y2="79330"/>
                        <a14:backgroundMark x1="92122" y1="79330" x2="44208" y2="81378"/>
                        <a14:backgroundMark x1="44208" y1="81378" x2="84615" y2="91248"/>
                        <a14:backgroundMark x1="84615" y1="91248" x2="28545" y2="89199"/>
                        <a14:backgroundMark x1="28545" y1="89199" x2="82576" y2="79981"/>
                        <a14:backgroundMark x1="82576" y1="79981" x2="96942" y2="52793"/>
                        <a14:backgroundMark x1="14551" y1="4004" x2="64875" y2="11266"/>
                        <a14:backgroundMark x1="64875" y1="11266" x2="27340" y2="16667"/>
                        <a14:backgroundMark x1="27340" y1="16667" x2="65802" y2="13128"/>
                        <a14:backgroundMark x1="65802" y1="13128" x2="26969" y2="3166"/>
                        <a14:backgroundMark x1="26969" y1="3166" x2="75070" y2="6145"/>
                        <a14:backgroundMark x1="75070" y1="6145" x2="31047" y2="14246"/>
                        <a14:backgroundMark x1="31047" y1="14246" x2="4356" y2="43669"/>
                        <a14:backgroundMark x1="4356" y1="43669" x2="8526" y2="88268"/>
                        <a14:backgroundMark x1="8526" y1="88268" x2="2224" y2="97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54" b="4900"/>
          <a:stretch>
            <a:fillRect/>
          </a:stretch>
        </p:blipFill>
        <p:spPr>
          <a:xfrm>
            <a:off x="8056865" y="5377040"/>
            <a:ext cx="664618" cy="694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509E7-FB81-2ECC-9F9E-D4D80655B4B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1855" t="55802" r="35628" b="15651"/>
          <a:stretch>
            <a:fillRect/>
          </a:stretch>
        </p:blipFill>
        <p:spPr>
          <a:xfrm>
            <a:off x="7066271" y="4180359"/>
            <a:ext cx="656103" cy="6238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95" y="971425"/>
            <a:ext cx="6778390" cy="1143000"/>
          </a:xfrm>
        </p:spPr>
        <p:txBody>
          <a:bodyPr>
            <a:noAutofit/>
          </a:bodyPr>
          <a:lstStyle/>
          <a:p>
            <a:r>
              <a:rPr lang="en-IN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DESIGN / FEA / PROTOTYPE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7" y="92076"/>
            <a:ext cx="1783719" cy="54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A6FE22-BC3D-43C5-BAE7-9FC2AC72F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930" y="38333"/>
            <a:ext cx="814327" cy="814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DECE94-BFAF-83D6-DF22-5270A6A94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685" y="936854"/>
            <a:ext cx="2051105" cy="1205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D7D125-839C-E6A4-1DA9-83A8B07E1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6" y="2294408"/>
            <a:ext cx="2753406" cy="1525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38BCB9-14F7-1DA9-E7C9-8B5DD26716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278" y="2294408"/>
            <a:ext cx="2877982" cy="14566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152D54-E923-B8D4-FD2E-696F3365EF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16" y="2279147"/>
            <a:ext cx="2894741" cy="1475176"/>
          </a:xfrm>
          <a:prstGeom prst="rect">
            <a:avLst/>
          </a:prstGeom>
        </p:spPr>
      </p:pic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2089FD7-5C79-FB6A-FCA1-21006B4F373D}"/>
              </a:ext>
            </a:extLst>
          </p:cNvPr>
          <p:cNvSpPr/>
          <p:nvPr/>
        </p:nvSpPr>
        <p:spPr>
          <a:xfrm>
            <a:off x="168295" y="4020543"/>
            <a:ext cx="2611898" cy="2588354"/>
          </a:xfrm>
          <a:prstGeom prst="flowChartAlternate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CADC2C-2919-61E1-E632-B2379007F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547901"/>
              </p:ext>
            </p:extLst>
          </p:nvPr>
        </p:nvGraphicFramePr>
        <p:xfrm>
          <a:off x="168295" y="4715528"/>
          <a:ext cx="2611898" cy="145274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05949">
                  <a:extLst>
                    <a:ext uri="{9D8B030D-6E8A-4147-A177-3AD203B41FA5}">
                      <a16:colId xmlns:a16="http://schemas.microsoft.com/office/drawing/2014/main" val="2822229441"/>
                    </a:ext>
                  </a:extLst>
                </a:gridCol>
                <a:gridCol w="1305949">
                  <a:extLst>
                    <a:ext uri="{9D8B030D-6E8A-4147-A177-3AD203B41FA5}">
                      <a16:colId xmlns:a16="http://schemas.microsoft.com/office/drawing/2014/main" val="2777823563"/>
                    </a:ext>
                  </a:extLst>
                </a:gridCol>
              </a:tblGrid>
              <a:tr h="355465">
                <a:tc>
                  <a:txBody>
                    <a:bodyPr/>
                    <a:lstStyle/>
                    <a:p>
                      <a:r>
                        <a:rPr lang="en-US" sz="1600" dirty="0"/>
                        <a:t>LOAD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DEFORMATION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449239"/>
                  </a:ext>
                </a:extLst>
              </a:tr>
              <a:tr h="355465">
                <a:tc>
                  <a:txBody>
                    <a:bodyPr/>
                    <a:lstStyle/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9313"/>
                  </a:ext>
                </a:extLst>
              </a:tr>
              <a:tr h="355465">
                <a:tc>
                  <a:txBody>
                    <a:bodyPr/>
                    <a:lstStyle/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962318"/>
                  </a:ext>
                </a:extLst>
              </a:tr>
              <a:tr h="355465">
                <a:tc>
                  <a:txBody>
                    <a:bodyPr/>
                    <a:lstStyle/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0.000356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85883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1CF0D50-4678-1E1B-4A1A-7EC7AB0045C1}"/>
              </a:ext>
            </a:extLst>
          </p:cNvPr>
          <p:cNvSpPr txBox="1"/>
          <p:nvPr/>
        </p:nvSpPr>
        <p:spPr>
          <a:xfrm>
            <a:off x="389204" y="4072561"/>
            <a:ext cx="2297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  <a:r>
              <a:rPr lang="en-US" dirty="0"/>
              <a:t> </a:t>
            </a:r>
            <a:r>
              <a:rPr lang="en-US" b="1" dirty="0"/>
              <a:t>DEFORMATION</a:t>
            </a:r>
            <a:r>
              <a:rPr lang="en-US" dirty="0"/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D7FCC7DA-8000-87FA-EE4A-8357F2ECC8CB}"/>
              </a:ext>
            </a:extLst>
          </p:cNvPr>
          <p:cNvSpPr/>
          <p:nvPr/>
        </p:nvSpPr>
        <p:spPr>
          <a:xfrm>
            <a:off x="3207741" y="4041325"/>
            <a:ext cx="2728518" cy="2588354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IN" b="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D5D415-C508-2A76-84B5-D4F62598B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73553"/>
              </p:ext>
            </p:extLst>
          </p:nvPr>
        </p:nvGraphicFramePr>
        <p:xfrm>
          <a:off x="3220705" y="4715528"/>
          <a:ext cx="2702590" cy="149368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410127">
                  <a:extLst>
                    <a:ext uri="{9D8B030D-6E8A-4147-A177-3AD203B41FA5}">
                      <a16:colId xmlns:a16="http://schemas.microsoft.com/office/drawing/2014/main" val="929962545"/>
                    </a:ext>
                  </a:extLst>
                </a:gridCol>
                <a:gridCol w="1292463">
                  <a:extLst>
                    <a:ext uri="{9D8B030D-6E8A-4147-A177-3AD203B41FA5}">
                      <a16:colId xmlns:a16="http://schemas.microsoft.com/office/drawing/2014/main" val="2405607483"/>
                    </a:ext>
                  </a:extLst>
                </a:gridCol>
              </a:tblGrid>
              <a:tr h="396401">
                <a:tc>
                  <a:txBody>
                    <a:bodyPr/>
                    <a:lstStyle/>
                    <a:p>
                      <a:r>
                        <a:rPr lang="en-US" sz="1600" dirty="0"/>
                        <a:t>LOAD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DEFORMATION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16673"/>
                  </a:ext>
                </a:extLst>
              </a:tr>
              <a:tr h="354535">
                <a:tc>
                  <a:txBody>
                    <a:bodyPr/>
                    <a:lstStyle/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6.9007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83955"/>
                  </a:ext>
                </a:extLst>
              </a:tr>
              <a:tr h="354535">
                <a:tc>
                  <a:txBody>
                    <a:bodyPr/>
                    <a:lstStyle/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1.3801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4372"/>
                  </a:ext>
                </a:extLst>
              </a:tr>
              <a:tr h="354535">
                <a:tc>
                  <a:txBody>
                    <a:bodyPr/>
                    <a:lstStyle/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2.0702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8828"/>
                  </a:ext>
                </a:extLst>
              </a:tr>
            </a:tbl>
          </a:graphicData>
        </a:graphic>
      </p:graphicFrame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788DBB5-3849-9CFA-1E98-6F6D595453F9}"/>
              </a:ext>
            </a:extLst>
          </p:cNvPr>
          <p:cNvSpPr/>
          <p:nvPr/>
        </p:nvSpPr>
        <p:spPr>
          <a:xfrm>
            <a:off x="6287126" y="4020543"/>
            <a:ext cx="2687600" cy="2624144"/>
          </a:xfrm>
          <a:prstGeom prst="flowChartAlternateProcess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IN" b="1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DFE217C-D053-5A78-D714-2A8416BEE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174319"/>
              </p:ext>
            </p:extLst>
          </p:nvPr>
        </p:nvGraphicFramePr>
        <p:xfrm>
          <a:off x="6301259" y="4708628"/>
          <a:ext cx="2659333" cy="1482712"/>
        </p:xfrm>
        <a:graphic>
          <a:graphicData uri="http://schemas.openxmlformats.org/drawingml/2006/table">
            <a:tbl>
              <a:tblPr firstRow="1" bandRow="1"/>
              <a:tblGrid>
                <a:gridCol w="1347130">
                  <a:extLst>
                    <a:ext uri="{9D8B030D-6E8A-4147-A177-3AD203B41FA5}">
                      <a16:colId xmlns:a16="http://schemas.microsoft.com/office/drawing/2014/main" val="1569164006"/>
                    </a:ext>
                  </a:extLst>
                </a:gridCol>
                <a:gridCol w="1312203">
                  <a:extLst>
                    <a:ext uri="{9D8B030D-6E8A-4147-A177-3AD203B41FA5}">
                      <a16:colId xmlns:a16="http://schemas.microsoft.com/office/drawing/2014/main" val="4209363745"/>
                    </a:ext>
                  </a:extLst>
                </a:gridCol>
              </a:tblGrid>
              <a:tr h="3706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LOAD</a:t>
                      </a:r>
                      <a:endParaRPr lang="en-IN" sz="1600" dirty="0"/>
                    </a:p>
                  </a:txBody>
                  <a:tcPr>
                    <a:lnL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300" dirty="0"/>
                        <a:t>DEFORMATION</a:t>
                      </a:r>
                      <a:endParaRPr lang="en-IN" sz="13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22711"/>
                  </a:ext>
                </a:extLst>
              </a:tr>
              <a:tr h="3706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0.00012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673710"/>
                  </a:ext>
                </a:extLst>
              </a:tr>
              <a:tr h="3706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0.00023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900822"/>
                  </a:ext>
                </a:extLst>
              </a:tr>
              <a:tr h="37067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/>
                        <a:t>0.00037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27440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C107DF3-6005-F69B-F26E-261E89BD51D4}"/>
              </a:ext>
            </a:extLst>
          </p:cNvPr>
          <p:cNvSpPr txBox="1"/>
          <p:nvPr/>
        </p:nvSpPr>
        <p:spPr>
          <a:xfrm>
            <a:off x="3315324" y="4135033"/>
            <a:ext cx="243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EQUIVALENT</a:t>
            </a:r>
            <a:r>
              <a:rPr lang="en-US" dirty="0"/>
              <a:t> </a:t>
            </a:r>
            <a:r>
              <a:rPr lang="en-US" b="1" dirty="0"/>
              <a:t>STRESS</a:t>
            </a:r>
            <a:endParaRPr lang="en-IN" b="1" dirty="0"/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A5134-903D-315B-9D61-AF14B50F9D0F}"/>
              </a:ext>
            </a:extLst>
          </p:cNvPr>
          <p:cNvSpPr txBox="1"/>
          <p:nvPr/>
        </p:nvSpPr>
        <p:spPr>
          <a:xfrm>
            <a:off x="6329515" y="4226450"/>
            <a:ext cx="3065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EQUIVALENT ELASTIC STRAIN</a:t>
            </a:r>
            <a:endParaRPr lang="en-IN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A706C2-46C2-B2C0-781F-C664748F0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8416" y="828965"/>
            <a:ext cx="6005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 FEA  PROCESS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EINDIA Sections Logo-11 copy.png">
            <a:extLst>
              <a:ext uri="{FF2B5EF4-FFF2-40B4-BE49-F238E27FC236}">
                <a16:creationId xmlns:a16="http://schemas.microsoft.com/office/drawing/2014/main" id="{5D01C3E7-98BF-5BEE-1A9D-3AD374F4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7" y="92076"/>
            <a:ext cx="1783719" cy="548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617576-7962-3FFF-CFBB-6B5FFF3A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691" y="114593"/>
            <a:ext cx="814327" cy="814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EEDC5-0163-E34F-2D33-EC64CC3295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7" y="1817518"/>
            <a:ext cx="2672861" cy="1486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57377F-1388-6FB8-3B6B-DC3C35FCE3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569" y="1817520"/>
            <a:ext cx="2672861" cy="148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EAA0D-F0EB-F126-BA48-116BA82AAD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21" y="1817520"/>
            <a:ext cx="2700997" cy="1486790"/>
          </a:xfrm>
          <a:prstGeom prst="rect">
            <a:avLst/>
          </a:prstGeom>
        </p:spPr>
      </p:pic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FDFDF7E7-1423-17E4-C568-60D4A60DB739}"/>
              </a:ext>
            </a:extLst>
          </p:cNvPr>
          <p:cNvSpPr/>
          <p:nvPr/>
        </p:nvSpPr>
        <p:spPr>
          <a:xfrm>
            <a:off x="261154" y="3553693"/>
            <a:ext cx="2694572" cy="2743198"/>
          </a:xfrm>
          <a:prstGeom prst="flowChartAlternate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IN" b="1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6541553-2E1F-D014-775C-FA4A103FAA05}"/>
              </a:ext>
            </a:extLst>
          </p:cNvPr>
          <p:cNvSpPr/>
          <p:nvPr/>
        </p:nvSpPr>
        <p:spPr>
          <a:xfrm>
            <a:off x="3235569" y="3553691"/>
            <a:ext cx="2643824" cy="2743198"/>
          </a:xfrm>
          <a:prstGeom prst="flowChartAlternate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C9AAA26F-807A-7FBB-15B0-FBF83CD87667}"/>
              </a:ext>
            </a:extLst>
          </p:cNvPr>
          <p:cNvSpPr/>
          <p:nvPr/>
        </p:nvSpPr>
        <p:spPr>
          <a:xfrm>
            <a:off x="6239021" y="3491345"/>
            <a:ext cx="2790680" cy="2743198"/>
          </a:xfrm>
          <a:prstGeom prst="flowChartAlternateProcess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25AA9-AC57-8ACE-A333-1A2A64393F09}"/>
              </a:ext>
            </a:extLst>
          </p:cNvPr>
          <p:cNvSpPr txBox="1"/>
          <p:nvPr/>
        </p:nvSpPr>
        <p:spPr>
          <a:xfrm>
            <a:off x="382004" y="3774357"/>
            <a:ext cx="237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</a:t>
            </a:r>
            <a:r>
              <a:rPr lang="en-US" dirty="0"/>
              <a:t> </a:t>
            </a:r>
            <a:r>
              <a:rPr lang="en-US" b="1" dirty="0"/>
              <a:t>DEFORMATION</a:t>
            </a:r>
            <a:r>
              <a:rPr lang="en-US" dirty="0"/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A63384-464D-89A1-4A70-E7EF3D412CAA}"/>
              </a:ext>
            </a:extLst>
          </p:cNvPr>
          <p:cNvSpPr txBox="1"/>
          <p:nvPr/>
        </p:nvSpPr>
        <p:spPr>
          <a:xfrm>
            <a:off x="3353174" y="3782715"/>
            <a:ext cx="243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EQUIVALENT</a:t>
            </a:r>
            <a:r>
              <a:rPr lang="en-US" dirty="0"/>
              <a:t> </a:t>
            </a:r>
            <a:r>
              <a:rPr lang="en-US" b="1" dirty="0"/>
              <a:t>STRESS</a:t>
            </a:r>
            <a:endParaRPr lang="en-IN" b="1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8059B-2DCD-CD0F-237B-351FD09F8E0E}"/>
              </a:ext>
            </a:extLst>
          </p:cNvPr>
          <p:cNvSpPr txBox="1"/>
          <p:nvPr/>
        </p:nvSpPr>
        <p:spPr>
          <a:xfrm>
            <a:off x="6239021" y="3785400"/>
            <a:ext cx="30509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EQUIVALENT ELASTIC STRAIN</a:t>
            </a:r>
            <a:endParaRPr lang="en-IN" sz="1700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778DDCC-C87D-F4B6-D0BE-C6E2A64A8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483165"/>
              </p:ext>
            </p:extLst>
          </p:nvPr>
        </p:nvGraphicFramePr>
        <p:xfrm>
          <a:off x="260953" y="4389752"/>
          <a:ext cx="2672861" cy="14418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02504">
                  <a:extLst>
                    <a:ext uri="{9D8B030D-6E8A-4147-A177-3AD203B41FA5}">
                      <a16:colId xmlns:a16="http://schemas.microsoft.com/office/drawing/2014/main" val="2822229441"/>
                    </a:ext>
                  </a:extLst>
                </a:gridCol>
                <a:gridCol w="1270357">
                  <a:extLst>
                    <a:ext uri="{9D8B030D-6E8A-4147-A177-3AD203B41FA5}">
                      <a16:colId xmlns:a16="http://schemas.microsoft.com/office/drawing/2014/main" val="2777823563"/>
                    </a:ext>
                  </a:extLst>
                </a:gridCol>
              </a:tblGrid>
              <a:tr h="344526">
                <a:tc>
                  <a:txBody>
                    <a:bodyPr/>
                    <a:lstStyle/>
                    <a:p>
                      <a:r>
                        <a:rPr lang="en-US" sz="1600" dirty="0"/>
                        <a:t>LOAD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DEFORMATION 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449239"/>
                  </a:ext>
                </a:extLst>
              </a:tr>
              <a:tr h="344526">
                <a:tc>
                  <a:txBody>
                    <a:bodyPr/>
                    <a:lstStyle/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0.058631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9313"/>
                  </a:ext>
                </a:extLst>
              </a:tr>
              <a:tr h="348906">
                <a:tc>
                  <a:txBody>
                    <a:bodyPr/>
                    <a:lstStyle/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0.11726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962318"/>
                  </a:ext>
                </a:extLst>
              </a:tr>
              <a:tr h="344526">
                <a:tc>
                  <a:txBody>
                    <a:bodyPr/>
                    <a:lstStyle/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0.17589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92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CD23C51-6E4A-1E64-68E2-DBE8396D7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33331"/>
              </p:ext>
            </p:extLst>
          </p:nvPr>
        </p:nvGraphicFramePr>
        <p:xfrm>
          <a:off x="3239030" y="4389752"/>
          <a:ext cx="2640364" cy="1447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20182">
                  <a:extLst>
                    <a:ext uri="{9D8B030D-6E8A-4147-A177-3AD203B41FA5}">
                      <a16:colId xmlns:a16="http://schemas.microsoft.com/office/drawing/2014/main" val="929962545"/>
                    </a:ext>
                  </a:extLst>
                </a:gridCol>
                <a:gridCol w="1320182">
                  <a:extLst>
                    <a:ext uri="{9D8B030D-6E8A-4147-A177-3AD203B41FA5}">
                      <a16:colId xmlns:a16="http://schemas.microsoft.com/office/drawing/2014/main" val="2405607483"/>
                    </a:ext>
                  </a:extLst>
                </a:gridCol>
              </a:tblGrid>
              <a:tr h="336251">
                <a:tc>
                  <a:txBody>
                    <a:bodyPr/>
                    <a:lstStyle/>
                    <a:p>
                      <a:r>
                        <a:rPr lang="en-US" sz="1700" dirty="0"/>
                        <a:t>LOAD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DEFORMATION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16673"/>
                  </a:ext>
                </a:extLst>
              </a:tr>
              <a:tr h="336251">
                <a:tc>
                  <a:txBody>
                    <a:bodyPr/>
                    <a:lstStyle/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3.5757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83955"/>
                  </a:ext>
                </a:extLst>
              </a:tr>
              <a:tr h="336251">
                <a:tc>
                  <a:txBody>
                    <a:bodyPr/>
                    <a:lstStyle/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7.1513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4372"/>
                  </a:ext>
                </a:extLst>
              </a:tr>
              <a:tr h="336251">
                <a:tc>
                  <a:txBody>
                    <a:bodyPr/>
                    <a:lstStyle/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1.0727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882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B785585-7B7E-DFB7-B024-6DFB44533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98803"/>
              </p:ext>
            </p:extLst>
          </p:nvPr>
        </p:nvGraphicFramePr>
        <p:xfrm>
          <a:off x="6239021" y="4354652"/>
          <a:ext cx="2790680" cy="14829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15321">
                  <a:extLst>
                    <a:ext uri="{9D8B030D-6E8A-4147-A177-3AD203B41FA5}">
                      <a16:colId xmlns:a16="http://schemas.microsoft.com/office/drawing/2014/main" val="1569164006"/>
                    </a:ext>
                  </a:extLst>
                </a:gridCol>
                <a:gridCol w="1375359">
                  <a:extLst>
                    <a:ext uri="{9D8B030D-6E8A-4147-A177-3AD203B41FA5}">
                      <a16:colId xmlns:a16="http://schemas.microsoft.com/office/drawing/2014/main" val="4209363745"/>
                    </a:ext>
                  </a:extLst>
                </a:gridCol>
              </a:tblGrid>
              <a:tr h="370725">
                <a:tc>
                  <a:txBody>
                    <a:bodyPr/>
                    <a:lstStyle/>
                    <a:p>
                      <a:r>
                        <a:rPr lang="en-US" sz="1700" dirty="0"/>
                        <a:t>LOAD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DEFORMATION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922711"/>
                  </a:ext>
                </a:extLst>
              </a:tr>
              <a:tr h="370725">
                <a:tc>
                  <a:txBody>
                    <a:bodyPr/>
                    <a:lstStyle/>
                    <a:p>
                      <a:r>
                        <a:rPr lang="en-US" dirty="0"/>
                        <a:t>1V (680)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0.01763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73710"/>
                  </a:ext>
                </a:extLst>
              </a:tr>
              <a:tr h="370725">
                <a:tc>
                  <a:txBody>
                    <a:bodyPr/>
                    <a:lstStyle/>
                    <a:p>
                      <a:r>
                        <a:rPr lang="en-US" dirty="0"/>
                        <a:t>2V (1360)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900822"/>
                  </a:ext>
                </a:extLst>
              </a:tr>
              <a:tr h="370725">
                <a:tc>
                  <a:txBody>
                    <a:bodyPr/>
                    <a:lstStyle/>
                    <a:p>
                      <a:r>
                        <a:rPr lang="en-US" dirty="0"/>
                        <a:t>3V (2040)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74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05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1096" y="495828"/>
            <a:ext cx="7197064" cy="1143000"/>
          </a:xfrm>
        </p:spPr>
        <p:txBody>
          <a:bodyPr>
            <a:normAutofit fontScale="90000"/>
          </a:bodyPr>
          <a:lstStyle/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 CHECK / VALIDATION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4" y="92076"/>
            <a:ext cx="1923998" cy="54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BEC3F-FF9A-4201-B383-E1831B9DB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303" y="114593"/>
            <a:ext cx="903715" cy="90371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CB07E8-AC92-6108-A22B-796CB7049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22609"/>
              </p:ext>
            </p:extLst>
          </p:nvPr>
        </p:nvGraphicFramePr>
        <p:xfrm>
          <a:off x="5746173" y="2063982"/>
          <a:ext cx="3297755" cy="41858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76359">
                  <a:extLst>
                    <a:ext uri="{9D8B030D-6E8A-4147-A177-3AD203B41FA5}">
                      <a16:colId xmlns:a16="http://schemas.microsoft.com/office/drawing/2014/main" val="2928956508"/>
                    </a:ext>
                  </a:extLst>
                </a:gridCol>
                <a:gridCol w="1621396">
                  <a:extLst>
                    <a:ext uri="{9D8B030D-6E8A-4147-A177-3AD203B41FA5}">
                      <a16:colId xmlns:a16="http://schemas.microsoft.com/office/drawing/2014/main" val="3181535476"/>
                    </a:ext>
                  </a:extLst>
                </a:gridCol>
              </a:tblGrid>
              <a:tr h="5977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SPECIFICATION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RESPECTIVE VALUES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959395"/>
                  </a:ext>
                </a:extLst>
              </a:tr>
              <a:tr h="9811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DIMENSION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LENGTH :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1672mm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HEIGHT :       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595.17mm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638976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WHEEL BASE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1061.18 mm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0414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TIRE SIZE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INCHES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209863"/>
                  </a:ext>
                </a:extLst>
              </a:tr>
              <a:tr h="53259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CENTRE OF GRAVITY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(X,Y) = (38.8mm,15.0mm)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59563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STEEL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69715"/>
                  </a:ext>
                </a:extLst>
              </a:tr>
              <a:tr h="53259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GRADE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IS4130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418082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kg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686819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BREAK TYPE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- BRAKE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5776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E9ED5F8-62CC-2EDE-B408-BCC3AA788D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52" t="8141" r="4772" b="38653"/>
          <a:stretch>
            <a:fillRect/>
          </a:stretch>
        </p:blipFill>
        <p:spPr>
          <a:xfrm>
            <a:off x="0" y="1880754"/>
            <a:ext cx="5746173" cy="2907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ABCEFA-CFCD-8CAB-C111-11AE2821AA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48" b="91812" l="9886" r="89861">
                        <a14:foregroundMark x1="42780" y1="7766" x2="39163" y2="9664"/>
                        <a14:foregroundMark x1="45361" y1="6411" x2="43960" y2="7146"/>
                        <a14:foregroundMark x1="53485" y1="2148" x2="48467" y2="4781"/>
                        <a14:foregroundMark x1="44479" y1="6053" x2="45212" y2="6226"/>
                        <a14:foregroundMark x1="28162" y1="16378" x2="30925" y2="14497"/>
                        <a14:foregroundMark x1="26484" y1="17521" x2="27712" y2="16685"/>
                        <a14:foregroundMark x1="22053" y1="20537" x2="24847" y2="18635"/>
                        <a14:foregroundMark x1="30925" y1="14497" x2="38530" y2="12081"/>
                        <a14:foregroundMark x1="38530" y1="12081" x2="41952" y2="9799"/>
                        <a14:foregroundMark x1="35868" y1="14497" x2="37389" y2="23221"/>
                        <a14:foregroundMark x1="37389" y1="23221" x2="33967" y2="35034"/>
                        <a14:foregroundMark x1="67427" y1="81477" x2="74905" y2="91544"/>
                        <a14:foregroundMark x1="74905" y1="91544" x2="84030" y2="91812"/>
                        <a14:foregroundMark x1="84030" y1="91812" x2="86565" y2="86309"/>
                        <a14:foregroundMark x1="54499" y1="60134" x2="52978" y2="60671"/>
                        <a14:foregroundMark x1="61470" y1="36644" x2="73131" y2="46443"/>
                        <a14:foregroundMark x1="15336" y1="48859" x2="25095" y2="68591"/>
                        <a14:foregroundMark x1="25095" y1="68591" x2="31686" y2="72349"/>
                        <a14:foregroundMark x1="31686" y1="72349" x2="40177" y2="64027"/>
                        <a14:foregroundMark x1="40177" y1="64027" x2="39163" y2="55705"/>
                        <a14:foregroundMark x1="39163" y1="55705" x2="27757" y2="37047"/>
                        <a14:foregroundMark x1="27757" y1="37047" x2="20025" y2="34228"/>
                        <a14:foregroundMark x1="20025" y1="34228" x2="10773" y2="37987"/>
                        <a14:foregroundMark x1="10773" y1="37987" x2="18758" y2="54765"/>
                        <a14:foregroundMark x1="18758" y1="54765" x2="20406" y2="56510"/>
                        <a14:backgroundMark x1="24335" y1="16376" x2="27503" y2="15570"/>
                        <a14:backgroundMark x1="43346" y1="4698" x2="44740" y2="4430"/>
                        <a14:backgroundMark x1="25729" y1="16779" x2="26869" y2="16242"/>
                        <a14:backgroundMark x1="43599" y1="6040" x2="44740" y2="5503"/>
                        <a14:backgroundMark x1="47655" y1="3758" x2="45120" y2="4832"/>
                        <a14:backgroundMark x1="27757" y1="15705" x2="27123" y2="15705"/>
                        <a14:backgroundMark x1="26616" y1="16376" x2="27250" y2="16107"/>
                        <a14:backgroundMark x1="43473" y1="5906" x2="44994" y2="4966"/>
                        <a14:backgroundMark x1="46261" y1="4966" x2="44740" y2="56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1913" y="4704743"/>
            <a:ext cx="2380997" cy="2248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OUTCOME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3" y="183197"/>
            <a:ext cx="1923998" cy="54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DDBF44-328C-4637-8732-C0C345952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397" y="114593"/>
            <a:ext cx="752621" cy="752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544168-6CC3-412D-2F11-021633937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73" y="1717543"/>
            <a:ext cx="2874416" cy="223935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8BE0D5-6C2B-15B4-F166-F15F0F30F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008163"/>
              </p:ext>
            </p:extLst>
          </p:nvPr>
        </p:nvGraphicFramePr>
        <p:xfrm>
          <a:off x="457200" y="4642700"/>
          <a:ext cx="3498503" cy="159532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98503">
                  <a:extLst>
                    <a:ext uri="{9D8B030D-6E8A-4147-A177-3AD203B41FA5}">
                      <a16:colId xmlns:a16="http://schemas.microsoft.com/office/drawing/2014/main" val="1587553497"/>
                    </a:ext>
                  </a:extLst>
                </a:gridCol>
              </a:tblGrid>
              <a:tr h="1595324">
                <a:tc>
                  <a:txBody>
                    <a:bodyPr/>
                    <a:lstStyle/>
                    <a:p>
                      <a:r>
                        <a:rPr lang="en-US" sz="1400" dirty="0"/>
                        <a:t>DESIGN MODEL :</a:t>
                      </a:r>
                    </a:p>
                    <a:p>
                      <a:endParaRPr lang="en-US" sz="14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FAILURE : WE DESIGNED CYCLE DESIGN WITHOUT SUPPORT IN SEAT TUBE SO FACED PROBLEMS IN DEFORMATION IN (ANSYS)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36684"/>
                  </a:ext>
                </a:extLst>
              </a:tr>
            </a:tbl>
          </a:graphicData>
        </a:graphic>
      </p:graphicFrame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B5439CBE-A6EF-FB58-C14D-C540F7FBD2CE}"/>
              </a:ext>
            </a:extLst>
          </p:cNvPr>
          <p:cNvSpPr/>
          <p:nvPr/>
        </p:nvSpPr>
        <p:spPr>
          <a:xfrm>
            <a:off x="4128611" y="2687267"/>
            <a:ext cx="978408" cy="299907"/>
          </a:xfrm>
          <a:prstGeom prst="stripedRightArrow">
            <a:avLst/>
          </a:prstGeom>
          <a:solidFill>
            <a:schemeClr val="tx1"/>
          </a:solidFill>
        </p:spPr>
        <p:txBody>
          <a:bodyPr rtlCol="0" anchor="ctr"/>
          <a:lstStyle/>
          <a:p>
            <a:pPr algn="l"/>
            <a:endParaRPr lang="en-IN" dirty="0">
              <a:effectLst>
                <a:reflection blurRad="6350" stA="60000" endA="900" endPos="58000" dir="5400000" sy="-100000" algn="bl" rotWithShape="0"/>
              </a:effectLst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2285F52-3780-A91F-8B72-75BE7E50B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133529"/>
              </p:ext>
            </p:extLst>
          </p:nvPr>
        </p:nvGraphicFramePr>
        <p:xfrm>
          <a:off x="5107019" y="4642700"/>
          <a:ext cx="3650901" cy="159532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650901">
                  <a:extLst>
                    <a:ext uri="{9D8B030D-6E8A-4147-A177-3AD203B41FA5}">
                      <a16:colId xmlns:a16="http://schemas.microsoft.com/office/drawing/2014/main" val="2653430891"/>
                    </a:ext>
                  </a:extLst>
                </a:gridCol>
              </a:tblGrid>
              <a:tr h="159532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DESIGN MODEL 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SOLUTION : WE HAVE GIVEN SUPPORT IN SEAT TUBE FOR THE FRAME TO MODIFY THE PROBLEM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1056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835775E-D3C6-B61C-5F11-DFFCD5944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733" b="3353"/>
          <a:stretch>
            <a:fillRect/>
          </a:stretch>
        </p:blipFill>
        <p:spPr>
          <a:xfrm>
            <a:off x="5415641" y="1717543"/>
            <a:ext cx="3019133" cy="2297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108" y="101140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SELLING POINT OF BUSINESS IDEA 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" y="148029"/>
            <a:ext cx="1146517" cy="326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DBD0EF-BF04-4619-9F9D-A83BBC90D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66" y="114594"/>
            <a:ext cx="633552" cy="633552"/>
          </a:xfrm>
          <a:prstGeom prst="rect">
            <a:avLst/>
          </a:prstGeom>
        </p:spPr>
      </p:pic>
      <p:sp>
        <p:nvSpPr>
          <p:cNvPr id="7" name="AutoShape 8" descr="Rich 7pcs Sports Protective Gear Set Ultralight Kids Bicycle Helmet |  Desertcart INDIA">
            <a:extLst>
              <a:ext uri="{FF2B5EF4-FFF2-40B4-BE49-F238E27FC236}">
                <a16:creationId xmlns:a16="http://schemas.microsoft.com/office/drawing/2014/main" id="{2EC32A59-FEE7-B7C8-41C6-A9AEBC00E7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183" y="2014383"/>
            <a:ext cx="593593" cy="59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C1B772-18AB-52F2-1232-829C122AE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148" b="91812" l="9886" r="89861">
                        <a14:foregroundMark x1="42780" y1="7766" x2="39163" y2="9664"/>
                        <a14:foregroundMark x1="45361" y1="6411" x2="43960" y2="7146"/>
                        <a14:foregroundMark x1="53485" y1="2148" x2="48467" y2="4781"/>
                        <a14:foregroundMark x1="44479" y1="6053" x2="45212" y2="6226"/>
                        <a14:foregroundMark x1="28162" y1="16378" x2="30925" y2="14497"/>
                        <a14:foregroundMark x1="26484" y1="17521" x2="27712" y2="16685"/>
                        <a14:foregroundMark x1="22053" y1="20537" x2="24847" y2="18635"/>
                        <a14:foregroundMark x1="30925" y1="14497" x2="38530" y2="12081"/>
                        <a14:foregroundMark x1="38530" y1="12081" x2="41952" y2="9799"/>
                        <a14:foregroundMark x1="35868" y1="14497" x2="37389" y2="23221"/>
                        <a14:foregroundMark x1="37389" y1="23221" x2="33967" y2="35034"/>
                        <a14:foregroundMark x1="67427" y1="81477" x2="74905" y2="91544"/>
                        <a14:foregroundMark x1="74905" y1="91544" x2="84030" y2="91812"/>
                        <a14:foregroundMark x1="84030" y1="91812" x2="86565" y2="86309"/>
                        <a14:foregroundMark x1="54499" y1="60134" x2="52978" y2="60671"/>
                        <a14:foregroundMark x1="61470" y1="36644" x2="73131" y2="46443"/>
                        <a14:foregroundMark x1="15336" y1="48859" x2="25095" y2="68591"/>
                        <a14:foregroundMark x1="25095" y1="68591" x2="31686" y2="72349"/>
                        <a14:foregroundMark x1="31686" y1="72349" x2="40177" y2="64027"/>
                        <a14:foregroundMark x1="40177" y1="64027" x2="39163" y2="55705"/>
                        <a14:foregroundMark x1="39163" y1="55705" x2="27757" y2="37047"/>
                        <a14:foregroundMark x1="27757" y1="37047" x2="20025" y2="34228"/>
                        <a14:foregroundMark x1="20025" y1="34228" x2="10773" y2="37987"/>
                        <a14:foregroundMark x1="10773" y1="37987" x2="18758" y2="54765"/>
                        <a14:foregroundMark x1="18758" y1="54765" x2="20406" y2="56510"/>
                        <a14:backgroundMark x1="24335" y1="16376" x2="27503" y2="15570"/>
                        <a14:backgroundMark x1="43346" y1="4698" x2="44740" y2="4430"/>
                        <a14:backgroundMark x1="25729" y1="16779" x2="26869" y2="16242"/>
                        <a14:backgroundMark x1="43599" y1="6040" x2="44740" y2="5503"/>
                        <a14:backgroundMark x1="47655" y1="3758" x2="45120" y2="4832"/>
                        <a14:backgroundMark x1="27757" y1="15705" x2="27123" y2="15705"/>
                        <a14:backgroundMark x1="26616" y1="16376" x2="27250" y2="16107"/>
                        <a14:backgroundMark x1="43473" y1="5906" x2="44994" y2="4966"/>
                        <a14:backgroundMark x1="46261" y1="4966" x2="44740" y2="56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9425" y="3211043"/>
            <a:ext cx="1993731" cy="1882547"/>
          </a:xfrm>
          <a:prstGeom prst="rect">
            <a:avLst/>
          </a:prstGeom>
        </p:spPr>
      </p:pic>
      <p:pic>
        <p:nvPicPr>
          <p:cNvPr id="1036" name="Picture 12" descr="PVC cycling helmet and with pads, Children at ₹ 250/piece in New Delhi |  ID: 2854469365991">
            <a:extLst>
              <a:ext uri="{FF2B5EF4-FFF2-40B4-BE49-F238E27FC236}">
                <a16:creationId xmlns:a16="http://schemas.microsoft.com/office/drawing/2014/main" id="{7C027756-65AF-8714-5EB6-62B0D3FB8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6"/>
          <a:stretch>
            <a:fillRect/>
          </a:stretch>
        </p:blipFill>
        <p:spPr bwMode="auto">
          <a:xfrm>
            <a:off x="609952" y="1266349"/>
            <a:ext cx="1415882" cy="212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853415-BB03-F4B1-5037-0FFDA22501BD}"/>
              </a:ext>
            </a:extLst>
          </p:cNvPr>
          <p:cNvSpPr txBox="1"/>
          <p:nvPr/>
        </p:nvSpPr>
        <p:spPr>
          <a:xfrm>
            <a:off x="3960925" y="2130325"/>
            <a:ext cx="144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39207E-79F5-B0F2-9BDD-9A6E81240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28360" b="28030"/>
          <a:stretch>
            <a:fillRect/>
          </a:stretch>
        </p:blipFill>
        <p:spPr>
          <a:xfrm>
            <a:off x="450252" y="4959124"/>
            <a:ext cx="1735282" cy="168168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B48704E-2F1A-F844-B8ED-FB412C0EED0F}"/>
              </a:ext>
            </a:extLst>
          </p:cNvPr>
          <p:cNvSpPr/>
          <p:nvPr/>
        </p:nvSpPr>
        <p:spPr>
          <a:xfrm>
            <a:off x="4402690" y="911055"/>
            <a:ext cx="2467353" cy="94241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BAD819-2CCD-5195-BCB7-74F27E7084E9}"/>
              </a:ext>
            </a:extLst>
          </p:cNvPr>
          <p:cNvSpPr/>
          <p:nvPr/>
        </p:nvSpPr>
        <p:spPr>
          <a:xfrm>
            <a:off x="4398596" y="2074583"/>
            <a:ext cx="2536736" cy="890191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9B1C0-C49C-1D0A-9B3D-609919B12142}"/>
              </a:ext>
            </a:extLst>
          </p:cNvPr>
          <p:cNvSpPr txBox="1"/>
          <p:nvPr/>
        </p:nvSpPr>
        <p:spPr>
          <a:xfrm>
            <a:off x="4447943" y="994805"/>
            <a:ext cx="2252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awareness through facts &amp; health guidance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581E8-DDAD-3953-73DA-76A423F8A543}"/>
              </a:ext>
            </a:extLst>
          </p:cNvPr>
          <p:cNvSpPr txBox="1"/>
          <p:nvPr/>
        </p:nvSpPr>
        <p:spPr>
          <a:xfrm>
            <a:off x="4292724" y="2113248"/>
            <a:ext cx="271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Safety-oriented fitness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(T-shirts ,gear ,etc.)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9F9374-2CC4-533E-ED45-D01AC76F4A2C}"/>
              </a:ext>
            </a:extLst>
          </p:cNvPr>
          <p:cNvSpPr/>
          <p:nvPr/>
        </p:nvSpPr>
        <p:spPr>
          <a:xfrm>
            <a:off x="4438848" y="3218540"/>
            <a:ext cx="2477744" cy="97248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03E95E-9889-25D1-9F5F-248F7B56A231}"/>
              </a:ext>
            </a:extLst>
          </p:cNvPr>
          <p:cNvSpPr txBox="1"/>
          <p:nvPr/>
        </p:nvSpPr>
        <p:spPr>
          <a:xfrm>
            <a:off x="4402690" y="3308464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consumables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(juice,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C9ED54-FF0F-B9FD-C345-B473A0CF515A}"/>
              </a:ext>
            </a:extLst>
          </p:cNvPr>
          <p:cNvSpPr/>
          <p:nvPr/>
        </p:nvSpPr>
        <p:spPr>
          <a:xfrm>
            <a:off x="4447943" y="4413756"/>
            <a:ext cx="2472402" cy="1024303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25CA1A-5C0A-2094-81EC-98028F9BDE06}"/>
              </a:ext>
            </a:extLst>
          </p:cNvPr>
          <p:cNvSpPr txBox="1"/>
          <p:nvPr/>
        </p:nvSpPr>
        <p:spPr>
          <a:xfrm>
            <a:off x="4761667" y="4581779"/>
            <a:ext cx="2296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overall health &amp; wellness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8A7B1D0-A6C1-4C4F-49AA-E925BECCD5FD}"/>
              </a:ext>
            </a:extLst>
          </p:cNvPr>
          <p:cNvSpPr/>
          <p:nvPr/>
        </p:nvSpPr>
        <p:spPr>
          <a:xfrm>
            <a:off x="4477929" y="5612012"/>
            <a:ext cx="2472401" cy="1024303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123997-B5A3-1A3F-4EAA-BDB3565174BF}"/>
              </a:ext>
            </a:extLst>
          </p:cNvPr>
          <p:cNvSpPr txBox="1"/>
          <p:nvPr/>
        </p:nvSpPr>
        <p:spPr>
          <a:xfrm>
            <a:off x="3864815" y="5797016"/>
            <a:ext cx="3574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&amp; convenient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offerings for fitness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enthusiasts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D22E92-A740-C64B-7E03-F9CB90052340}"/>
              </a:ext>
            </a:extLst>
          </p:cNvPr>
          <p:cNvCxnSpPr>
            <a:endCxn id="12" idx="0"/>
          </p:cNvCxnSpPr>
          <p:nvPr/>
        </p:nvCxnSpPr>
        <p:spPr>
          <a:xfrm>
            <a:off x="5589289" y="1873994"/>
            <a:ext cx="1" cy="2493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E3ED85-C373-A865-E6C3-708C962E1F7C}"/>
              </a:ext>
            </a:extLst>
          </p:cNvPr>
          <p:cNvCxnSpPr/>
          <p:nvPr/>
        </p:nvCxnSpPr>
        <p:spPr>
          <a:xfrm>
            <a:off x="5589290" y="2961707"/>
            <a:ext cx="1" cy="2493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2523FA-D8F5-7FB6-6E9B-3D95E1193AAE}"/>
              </a:ext>
            </a:extLst>
          </p:cNvPr>
          <p:cNvCxnSpPr/>
          <p:nvPr/>
        </p:nvCxnSpPr>
        <p:spPr>
          <a:xfrm>
            <a:off x="5651975" y="4205027"/>
            <a:ext cx="1" cy="2493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197971-17C4-6EBC-0452-62776E792408}"/>
              </a:ext>
            </a:extLst>
          </p:cNvPr>
          <p:cNvCxnSpPr/>
          <p:nvPr/>
        </p:nvCxnSpPr>
        <p:spPr>
          <a:xfrm>
            <a:off x="5651976" y="5397452"/>
            <a:ext cx="1" cy="2493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59436" cy="1143000"/>
          </a:xfrm>
        </p:spPr>
        <p:txBody>
          <a:bodyPr>
            <a:normAutofit/>
          </a:bodyPr>
          <a:lstStyle/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LEARNT</a:t>
            </a:r>
          </a:p>
        </p:txBody>
      </p:sp>
      <p:pic>
        <p:nvPicPr>
          <p:cNvPr id="4" name="Picture 3" descr="SAEINDIA Sections Logo-11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8" y="162096"/>
            <a:ext cx="1923998" cy="54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4F36FC-B179-4004-93CA-ABD8D5DF9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929" y="114593"/>
            <a:ext cx="1004089" cy="100408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E595BD-19D2-A367-3C75-113A4BC24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1762" y="1773720"/>
            <a:ext cx="2212457" cy="2127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AD1465-3E36-961B-8C6B-DD04F1A09B04}"/>
              </a:ext>
            </a:extLst>
          </p:cNvPr>
          <p:cNvSpPr txBox="1"/>
          <p:nvPr/>
        </p:nvSpPr>
        <p:spPr>
          <a:xfrm>
            <a:off x="636135" y="3940630"/>
            <a:ext cx="14496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spc="-52" dirty="0">
                <a:solidFill>
                  <a:srgbClr val="106861"/>
                </a:solidFill>
                <a:latin typeface="Times New Roman" panose="02020603050405020304" pitchFamily="18" charset="0"/>
                <a:ea typeface="Arimo Bold"/>
                <a:cs typeface="Times New Roman" panose="02020603050405020304" pitchFamily="18" charset="0"/>
                <a:sym typeface="Arimo Bold"/>
              </a:rPr>
              <a:t>WE LEARNT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7AA756-DDE4-E7E4-D9B6-84F882606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961" y="2437236"/>
            <a:ext cx="1624076" cy="1563883"/>
          </a:xfrm>
          <a:prstGeom prst="rect">
            <a:avLst/>
          </a:prstGeom>
        </p:spPr>
      </p:pic>
      <p:sp>
        <p:nvSpPr>
          <p:cNvPr id="10" name="TextBox 19">
            <a:extLst>
              <a:ext uri="{FF2B5EF4-FFF2-40B4-BE49-F238E27FC236}">
                <a16:creationId xmlns:a16="http://schemas.microsoft.com/office/drawing/2014/main" id="{23AC4611-C383-AC5A-D55B-C07064FECBE5}"/>
              </a:ext>
            </a:extLst>
          </p:cNvPr>
          <p:cNvSpPr txBox="1"/>
          <p:nvPr/>
        </p:nvSpPr>
        <p:spPr>
          <a:xfrm>
            <a:off x="3453899" y="3848710"/>
            <a:ext cx="2863774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1600" b="1" spc="-56" dirty="0">
                <a:solidFill>
                  <a:srgbClr val="106861"/>
                </a:solidFill>
                <a:latin typeface="Times New Roman" panose="02020603050405020304" pitchFamily="18" charset="0"/>
                <a:ea typeface="Arimo Bold"/>
                <a:cs typeface="Times New Roman" panose="02020603050405020304" pitchFamily="18" charset="0"/>
                <a:sym typeface="Arimo Bold"/>
              </a:rPr>
              <a:t>MODIFICATION NEEDED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F8EE51E7-14F2-6041-1468-ED2DD2D8B960}"/>
              </a:ext>
            </a:extLst>
          </p:cNvPr>
          <p:cNvSpPr/>
          <p:nvPr/>
        </p:nvSpPr>
        <p:spPr>
          <a:xfrm>
            <a:off x="5869704" y="1950444"/>
            <a:ext cx="3014379" cy="3431736"/>
          </a:xfrm>
          <a:custGeom>
            <a:avLst/>
            <a:gdLst/>
            <a:ahLst/>
            <a:cxnLst/>
            <a:rect l="l" t="t" r="r" b="b"/>
            <a:pathLst>
              <a:path w="5933313" h="7892796">
                <a:moveTo>
                  <a:pt x="0" y="0"/>
                </a:moveTo>
                <a:lnTo>
                  <a:pt x="5933313" y="0"/>
                </a:lnTo>
                <a:lnTo>
                  <a:pt x="5933313" y="7892796"/>
                </a:lnTo>
                <a:lnTo>
                  <a:pt x="0" y="7892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D12230DE-E81D-B8DB-ED50-A0AE08408471}"/>
              </a:ext>
            </a:extLst>
          </p:cNvPr>
          <p:cNvSpPr txBox="1"/>
          <p:nvPr/>
        </p:nvSpPr>
        <p:spPr>
          <a:xfrm>
            <a:off x="161778" y="4318267"/>
            <a:ext cx="3112520" cy="2127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Innovative Design 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Cost Efficiency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Ergonomic Considerations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CAE Process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How to Reduce material usage.</a:t>
            </a:r>
          </a:p>
          <a:p>
            <a:pPr marL="627337" lvl="2" indent="-342900" algn="l">
              <a:lnSpc>
                <a:spcPts val="2799"/>
              </a:lnSpc>
              <a:buFont typeface="Wingdings" panose="05000000000000000000" pitchFamily="2" charset="2"/>
              <a:buChar char="Ø"/>
            </a:pPr>
            <a:endParaRPr lang="en-US" sz="1866" dirty="0">
              <a:solidFill>
                <a:srgbClr val="34343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EC44BFB6-5BB0-2EA0-1D05-4E662FBC619E}"/>
              </a:ext>
            </a:extLst>
          </p:cNvPr>
          <p:cNvSpPr txBox="1"/>
          <p:nvPr/>
        </p:nvSpPr>
        <p:spPr>
          <a:xfrm>
            <a:off x="3094258" y="4464470"/>
            <a:ext cx="3318500" cy="176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Weight Optimization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Manufacturing Challenges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Frame Design Refinement</a:t>
            </a:r>
          </a:p>
          <a:p>
            <a:pPr marL="570187" lvl="2" indent="-285750" algn="l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343432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Project Planning and Execution</a:t>
            </a:r>
          </a:p>
          <a:p>
            <a:pPr marL="426655" lvl="2" indent="-142218" algn="l">
              <a:lnSpc>
                <a:spcPts val="2799"/>
              </a:lnSpc>
            </a:pPr>
            <a:endParaRPr lang="en-US" sz="1866" dirty="0">
              <a:solidFill>
                <a:srgbClr val="34343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9DD90-73DB-1513-E0AC-0CA5B34BCCD9}"/>
              </a:ext>
            </a:extLst>
          </p:cNvPr>
          <p:cNvSpPr txBox="1"/>
          <p:nvPr/>
        </p:nvSpPr>
        <p:spPr>
          <a:xfrm>
            <a:off x="6421582" y="4907439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OLD TEAM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rgbClr val="0070C0"/>
          </a:solidFill>
        </a:ln>
      </a:spPr>
      <a:bodyPr rtlCol="0" anchor="ctr"/>
      <a:lstStyle>
        <a:defPPr algn="l">
          <a:defRPr b="1" dirty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368</Words>
  <Application>Microsoft Office PowerPoint</Application>
  <PresentationFormat>On-screen Show (4:3)</PresentationFormat>
  <Paragraphs>127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Open Sauce</vt:lpstr>
      <vt:lpstr>Times New Roman</vt:lpstr>
      <vt:lpstr>Wingdings</vt:lpstr>
      <vt:lpstr>Office Theme</vt:lpstr>
      <vt:lpstr>7th Edition of Bicycle Design Challenge -25</vt:lpstr>
      <vt:lpstr>CONCEPT</vt:lpstr>
      <vt:lpstr>ENGINEERING DESIGN / FEA / PROTOTYPE</vt:lpstr>
      <vt:lpstr>INNOVATION  FEA  PROCESS</vt:lpstr>
      <vt:lpstr>DIMENSIONAL CHECK / VALIDATION</vt:lpstr>
      <vt:lpstr>DESIGN OUTCOME</vt:lpstr>
      <vt:lpstr>UNIQUE SELLING POINT OF BUSINESS IDEA </vt:lpstr>
      <vt:lpstr>LESSONS LEARNT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Edition of Bicycle Design Challenge -25</dc:title>
  <dc:subject/>
  <dc:creator>ambik</dc:creator>
  <cp:keywords/>
  <dc:description>generated using python-pptx</dc:description>
  <cp:lastModifiedBy>ambikaboopathi5@gmail.com</cp:lastModifiedBy>
  <cp:revision>13</cp:revision>
  <dcterms:created xsi:type="dcterms:W3CDTF">2013-01-27T09:14:16Z</dcterms:created>
  <dcterms:modified xsi:type="dcterms:W3CDTF">2025-09-27T08:38:08Z</dcterms:modified>
  <cp:category/>
</cp:coreProperties>
</file>